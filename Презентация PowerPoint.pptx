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7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72" r:id="rId16"/>
    <p:sldId id="269" r:id="rId17"/>
    <p:sldId id="270" r:id="rId1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Open Sans ExtraBold" panose="020B0906030804020204" pitchFamily="34" charset="0"/>
      <p:bold r:id="rId28"/>
      <p:boldItalic r:id="rId29"/>
    </p:embeddedFont>
    <p:embeddedFont>
      <p:font typeface="Open Sans Light" panose="020B0306030504020204" pitchFamily="34" charset="0"/>
      <p:regular r:id="rId30"/>
      <p:bold r:id="rId31"/>
      <p:italic r:id="rId32"/>
      <p:boldItalic r:id="rId33"/>
    </p:embeddedFont>
    <p:embeddedFont>
      <p:font typeface="Wingdings 3" panose="05040102010807070707" pitchFamily="18" charset="2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hd5+agRcMzMVuJYTZNSX2e6DH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077" autoAdjust="0"/>
  </p:normalViewPr>
  <p:slideViewPr>
    <p:cSldViewPr snapToGrid="0">
      <p:cViewPr varScale="1">
        <p:scale>
          <a:sx n="126" d="100"/>
          <a:sy n="126" d="100"/>
        </p:scale>
        <p:origin x="12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169449784_2_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e169449784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e169449784_2_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ge169449784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e169449784_2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ge169449784_2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e169449784_2_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e169449784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e169449784_2_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ge169449784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e169449784_2_5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ge169449784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e169449784_2_6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e169449784_2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64891F5E-1957-4E7E-5483-1C941BEA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>
            <a:extLst>
              <a:ext uri="{FF2B5EF4-FFF2-40B4-BE49-F238E27FC236}">
                <a16:creationId xmlns:a16="http://schemas.microsoft.com/office/drawing/2014/main" id="{57C8FDE0-D5EC-2788-1D8D-BDA316A5D6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5:notes">
            <a:extLst>
              <a:ext uri="{FF2B5EF4-FFF2-40B4-BE49-F238E27FC236}">
                <a16:creationId xmlns:a16="http://schemas.microsoft.com/office/drawing/2014/main" id="{CEFCAA0D-5907-3D8A-E35E-4B25B0933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32534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ACC04392-7B11-10C9-742B-CC533FD3F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>
            <a:extLst>
              <a:ext uri="{FF2B5EF4-FFF2-40B4-BE49-F238E27FC236}">
                <a16:creationId xmlns:a16="http://schemas.microsoft.com/office/drawing/2014/main" id="{F245A4B2-D1B7-299B-7B61-02828DC309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6:notes">
            <a:extLst>
              <a:ext uri="{FF2B5EF4-FFF2-40B4-BE49-F238E27FC236}">
                <a16:creationId xmlns:a16="http://schemas.microsoft.com/office/drawing/2014/main" id="{03D4B55E-6358-6080-0FC2-D60BE3E6CA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61244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6106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4491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32385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8398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1469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868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6756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6293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585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853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114192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3328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853521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52526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77011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8082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4152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118"/>
            <a:ext cx="1767506" cy="5139822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2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PZTOM00NtGq-AyDYjsAjwbjtWPX7fswK/edit?usp=sharing&amp;ouid=103404109642255735462&amp;rtpof=true&amp;sd=tru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docs.google.com/spreadsheets/d/1x6boy0oT-MEvG4w6c9kDmPwWNjz69xnf/edit?usp=sharing&amp;ouid=103404109642255735462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 rot="10800000" flipH="1">
            <a:off x="6199" y="0"/>
            <a:ext cx="9163201" cy="514800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16564" y="0"/>
                </a:lnTo>
                <a:lnTo>
                  <a:pt x="21600" y="896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537899" y="1895175"/>
            <a:ext cx="3953102" cy="1376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pen Sans ExtraBold"/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Sprocket Central Pty Ltd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537900" y="3315475"/>
            <a:ext cx="4034100" cy="49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lvl="0">
              <a:buClr>
                <a:srgbClr val="FFFFFF"/>
              </a:buClr>
              <a:buSzPts val="2000"/>
            </a:pPr>
            <a:r>
              <a:rPr lang="en-US" sz="2000" b="1" dirty="0">
                <a:solidFill>
                  <a:schemeClr val="bg1"/>
                </a:solidFill>
              </a:rPr>
              <a:t>Prepared by:</a:t>
            </a:r>
            <a:r>
              <a:rPr lang="en-US" sz="2000" dirty="0">
                <a:solidFill>
                  <a:schemeClr val="bg1"/>
                </a:solidFill>
              </a:rPr>
              <a:t> Olga </a:t>
            </a:r>
            <a:r>
              <a:rPr lang="en-US" sz="2000" dirty="0" err="1">
                <a:solidFill>
                  <a:schemeClr val="bg1"/>
                </a:solidFill>
              </a:rPr>
              <a:t>Kantceva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" descr="Shape 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4100" y="1275524"/>
            <a:ext cx="1982300" cy="2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/>
          <p:nvPr/>
        </p:nvSpPr>
        <p:spPr>
          <a:xfrm>
            <a:off x="537900" y="3666599"/>
            <a:ext cx="1915740" cy="36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lvl="0">
              <a:buClr>
                <a:srgbClr val="FFFFFF"/>
              </a:buClr>
              <a:buSzPts val="1200"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Date</a:t>
            </a:r>
            <a:r>
              <a:rPr lang="en-US" sz="1200" b="1" i="0" u="none" strike="noStrike" cap="none" dirty="0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</a:t>
            </a:r>
            <a:r>
              <a:rPr lang="en-US" sz="1200" dirty="0">
                <a:solidFill>
                  <a:schemeClr val="bg1"/>
                </a:solidFill>
              </a:rPr>
              <a:t>27 January 2026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43874" y="1211200"/>
            <a:ext cx="5459402" cy="1600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AutoNum type="arabicPeriod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Introduction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AutoNum type="arabicPeriod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Data Exploration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AutoNum type="arabicPeriod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Model Development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AutoNum type="arabicPeriod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Interpretation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BA77C-8098-51A7-D6ED-A41956E3E543}"/>
              </a:ext>
            </a:extLst>
          </p:cNvPr>
          <p:cNvSpPr txBox="1"/>
          <p:nvPr/>
        </p:nvSpPr>
        <p:spPr>
          <a:xfrm>
            <a:off x="976168" y="1283964"/>
            <a:ext cx="7723910" cy="327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The purpose of this project is to identify high-value customers for Sprocket Central Pty Ltd.</a:t>
            </a:r>
            <a:br>
              <a:rPr lang="en-US" sz="2000" dirty="0">
                <a:latin typeface="Century Gothic" panose="020B0502020202020204" pitchFamily="34" charset="0"/>
              </a:rPr>
            </a:br>
            <a:r>
              <a:rPr lang="en-US" sz="2000" dirty="0">
                <a:latin typeface="Century Gothic" panose="020B0502020202020204" pitchFamily="34" charset="0"/>
              </a:rPr>
              <a:t>First, we analyzed historical customer and transaction data to understand which customers bring the most value to the business.</a:t>
            </a:r>
            <a:br>
              <a:rPr lang="en-US" sz="2000" dirty="0">
                <a:latin typeface="Century Gothic" panose="020B0502020202020204" pitchFamily="34" charset="0"/>
              </a:rPr>
            </a:br>
            <a:r>
              <a:rPr lang="en-US" sz="2000" dirty="0">
                <a:latin typeface="Century Gothic" panose="020B0502020202020204" pitchFamily="34" charset="0"/>
              </a:rPr>
              <a:t>Then, we applied these insights to select the most promising customers from the new dataset of 1,000 </a:t>
            </a:r>
            <a:r>
              <a:rPr lang="en-US" sz="2000" dirty="0"/>
              <a:t>potential </a:t>
            </a:r>
            <a:r>
              <a:rPr lang="en-US" sz="2000" dirty="0">
                <a:latin typeface="Century Gothic" panose="020B0502020202020204" pitchFamily="34" charset="0"/>
              </a:rPr>
              <a:t>clients.</a:t>
            </a:r>
            <a:endParaRPr lang="ru-RU" sz="2000" dirty="0">
              <a:latin typeface="Century Gothic" panose="020B0502020202020204" pitchFamily="34" charset="0"/>
              <a:ea typeface="Open Sans" panose="020F0502020204030204" pitchFamily="34" charset="0"/>
              <a:cs typeface="Open Sans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70144C-C645-C534-A362-11B18DF5BF35}"/>
              </a:ext>
            </a:extLst>
          </p:cNvPr>
          <p:cNvSpPr txBox="1"/>
          <p:nvPr/>
        </p:nvSpPr>
        <p:spPr>
          <a:xfrm>
            <a:off x="1285008" y="833650"/>
            <a:ext cx="7297883" cy="4188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Century Gothic" panose="020B0502020202020204" pitchFamily="34" charset="0"/>
              </a:rPr>
              <a:t>Dataset Overview</a:t>
            </a:r>
            <a:endParaRPr lang="en-US" sz="2000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entury Gothic" panose="020B0502020202020204" pitchFamily="34" charset="0"/>
              </a:rPr>
              <a:t>The analysis is based on three historical datasets: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Customer Demographic</a:t>
            </a:r>
            <a:r>
              <a:rPr lang="en-US" sz="2000" dirty="0">
                <a:latin typeface="Century Gothic" panose="020B0502020202020204" pitchFamily="34" charset="0"/>
              </a:rPr>
              <a:t>: customer </a:t>
            </a:r>
            <a:r>
              <a:rPr lang="en-US" sz="2000" dirty="0"/>
              <a:t>profiles</a:t>
            </a:r>
            <a:r>
              <a:rPr lang="en-US" sz="2000" dirty="0">
                <a:latin typeface="Century Gothic" panose="020B0502020202020204" pitchFamily="34" charset="0"/>
              </a:rPr>
              <a:t> and personal characteristics.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Customer Address</a:t>
            </a:r>
            <a:r>
              <a:rPr lang="en-US" sz="2000" dirty="0">
                <a:latin typeface="Century Gothic" panose="020B0502020202020204" pitchFamily="34" charset="0"/>
              </a:rPr>
              <a:t>: location and geographic information.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Transactions</a:t>
            </a:r>
            <a:r>
              <a:rPr lang="en-US" sz="2000" dirty="0">
                <a:latin typeface="Century Gothic" panose="020B0502020202020204" pitchFamily="34" charset="0"/>
              </a:rPr>
              <a:t>: purchase history and transaction details.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entury Gothic" panose="020B0502020202020204" pitchFamily="34" charset="0"/>
              </a:rPr>
              <a:t>In addition, a new dataset containing 1,000 potential customers was provided for target customer selection.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e169449784_2_1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e169449784_2_1"/>
          <p:cNvSpPr/>
          <p:nvPr/>
        </p:nvSpPr>
        <p:spPr>
          <a:xfrm>
            <a:off x="205025" y="263974"/>
            <a:ext cx="8565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e169449784_2_1"/>
          <p:cNvSpPr/>
          <p:nvPr/>
        </p:nvSpPr>
        <p:spPr>
          <a:xfrm>
            <a:off x="-6201" y="-6350"/>
            <a:ext cx="9175500" cy="23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lang="en-US" sz="5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E30D33-B809-171C-FF87-226F2B9F5EF2}"/>
              </a:ext>
            </a:extLst>
          </p:cNvPr>
          <p:cNvSpPr txBox="1"/>
          <p:nvPr/>
        </p:nvSpPr>
        <p:spPr>
          <a:xfrm>
            <a:off x="772108" y="1830345"/>
            <a:ext cx="379989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Age was calculated based on Date of Birth, and customers were grouped into age segments to support demographic analysis.</a:t>
            </a:r>
            <a:endParaRPr lang="ru-RU" sz="2000" dirty="0"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2728BD-0016-473E-E4C4-35A33169F83C}"/>
              </a:ext>
            </a:extLst>
          </p:cNvPr>
          <p:cNvSpPr txBox="1"/>
          <p:nvPr/>
        </p:nvSpPr>
        <p:spPr>
          <a:xfrm>
            <a:off x="772108" y="1125380"/>
            <a:ext cx="48285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entury Gothic" panose="020B0502020202020204" pitchFamily="34" charset="0"/>
              </a:rPr>
              <a:t>Customer Distribution by Age Group</a:t>
            </a:r>
            <a:endParaRPr lang="ru-RU" sz="2000" b="1" dirty="0">
              <a:latin typeface="Century Gothic" panose="020B0502020202020204" pitchFamily="34" charset="0"/>
            </a:endParaRPr>
          </a:p>
        </p:txBody>
      </p:sp>
      <p:pic>
        <p:nvPicPr>
          <p:cNvPr id="3" name="Рисунок 2" descr="Изображение выглядит как текст, число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7A9D72-C49E-18F9-E443-DA2E99C04B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808"/>
          <a:stretch>
            <a:fillRect/>
          </a:stretch>
        </p:blipFill>
        <p:spPr>
          <a:xfrm>
            <a:off x="5400835" y="1830345"/>
            <a:ext cx="2605297" cy="1383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6E8452-3829-5EE3-737F-024A04604CA0}"/>
              </a:ext>
            </a:extLst>
          </p:cNvPr>
          <p:cNvSpPr txBox="1"/>
          <p:nvPr/>
        </p:nvSpPr>
        <p:spPr>
          <a:xfrm>
            <a:off x="5314950" y="3483025"/>
            <a:ext cx="459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Sample of age calculation and grouping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e169449784_2_16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e169449784_2_16"/>
          <p:cNvSpPr/>
          <p:nvPr/>
        </p:nvSpPr>
        <p:spPr>
          <a:xfrm>
            <a:off x="205025" y="263974"/>
            <a:ext cx="8565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e169449784_2_16"/>
          <p:cNvSpPr/>
          <p:nvPr/>
        </p:nvSpPr>
        <p:spPr>
          <a:xfrm>
            <a:off x="-6201" y="-6350"/>
            <a:ext cx="9175500" cy="23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167DB-D42C-D67B-2B25-4E04D2D53371}"/>
              </a:ext>
            </a:extLst>
          </p:cNvPr>
          <p:cNvSpPr txBox="1"/>
          <p:nvPr/>
        </p:nvSpPr>
        <p:spPr>
          <a:xfrm>
            <a:off x="838779" y="1654477"/>
            <a:ext cx="32591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Profit was calculated as the difference between list price and standard cost.</a:t>
            </a:r>
            <a:br>
              <a:rPr lang="en-US" dirty="0"/>
            </a:br>
            <a:r>
              <a:rPr lang="en-US" dirty="0"/>
              <a:t>Only Approved transactions were included to ensure accurate profit estimation.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2F906-C795-88BA-B9AB-2E517354FA0B}"/>
              </a:ext>
            </a:extLst>
          </p:cNvPr>
          <p:cNvSpPr txBox="1"/>
          <p:nvPr/>
        </p:nvSpPr>
        <p:spPr>
          <a:xfrm>
            <a:off x="854019" y="1149015"/>
            <a:ext cx="3726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entury Gothic" panose="020B0502020202020204" pitchFamily="34" charset="0"/>
              </a:rPr>
              <a:t>Profit Calculation Logic</a:t>
            </a:r>
            <a:endParaRPr lang="ru-RU" sz="2000" b="1" dirty="0">
              <a:latin typeface="Century Gothic" panose="020B0502020202020204" pitchFamily="34" charset="0"/>
            </a:endParaRPr>
          </a:p>
        </p:txBody>
      </p:sp>
      <p:pic>
        <p:nvPicPr>
          <p:cNvPr id="7" name="Рисунок 6" descr="Изображение выглядит как текст, число, меню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26068C-F8F4-CA83-7136-F1DC8529FD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3" b="65073"/>
          <a:stretch>
            <a:fillRect/>
          </a:stretch>
        </p:blipFill>
        <p:spPr>
          <a:xfrm>
            <a:off x="4487825" y="1779364"/>
            <a:ext cx="3608013" cy="13463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D182D7-7762-B6C1-0E58-247A0AB2037C}"/>
              </a:ext>
            </a:extLst>
          </p:cNvPr>
          <p:cNvSpPr txBox="1"/>
          <p:nvPr/>
        </p:nvSpPr>
        <p:spPr>
          <a:xfrm>
            <a:off x="4427220" y="3240730"/>
            <a:ext cx="3920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Sample of profit calculation based on approved orders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e169449784_2_26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e169449784_2_26"/>
          <p:cNvSpPr/>
          <p:nvPr/>
        </p:nvSpPr>
        <p:spPr>
          <a:xfrm>
            <a:off x="205025" y="263974"/>
            <a:ext cx="8565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e169449784_2_26"/>
          <p:cNvSpPr/>
          <p:nvPr/>
        </p:nvSpPr>
        <p:spPr>
          <a:xfrm>
            <a:off x="-6201" y="-6350"/>
            <a:ext cx="9175500" cy="23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CE8BA8-25B5-E344-764A-D728C616A775}"/>
              </a:ext>
            </a:extLst>
          </p:cNvPr>
          <p:cNvSpPr txBox="1"/>
          <p:nvPr/>
        </p:nvSpPr>
        <p:spPr>
          <a:xfrm>
            <a:off x="6203508" y="955923"/>
            <a:ext cx="290195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>
                <a:latin typeface="Century Gothic" panose="020B0502020202020204" pitchFamily="34" charset="0"/>
              </a:rPr>
              <a:t>RFM analysis was applied to segment customers based on their purchasing behavior:</a:t>
            </a:r>
            <a:br>
              <a:rPr lang="en-US" sz="1700" dirty="0">
                <a:latin typeface="Century Gothic" panose="020B0502020202020204" pitchFamily="34" charset="0"/>
              </a:rPr>
            </a:br>
            <a:r>
              <a:rPr lang="en-US" sz="1700" b="1" dirty="0">
                <a:latin typeface="Century Gothic" panose="020B0502020202020204" pitchFamily="34" charset="0"/>
              </a:rPr>
              <a:t>Recency</a:t>
            </a:r>
            <a:r>
              <a:rPr lang="en-US" sz="1700" dirty="0">
                <a:latin typeface="Century Gothic" panose="020B0502020202020204" pitchFamily="34" charset="0"/>
              </a:rPr>
              <a:t> – how recently the customer made their last transaction.</a:t>
            </a:r>
            <a:br>
              <a:rPr lang="en-US" sz="1700" dirty="0">
                <a:latin typeface="Century Gothic" panose="020B0502020202020204" pitchFamily="34" charset="0"/>
              </a:rPr>
            </a:br>
            <a:r>
              <a:rPr lang="en-US" sz="1700" b="1" dirty="0">
                <a:latin typeface="Century Gothic" panose="020B0502020202020204" pitchFamily="34" charset="0"/>
              </a:rPr>
              <a:t>Frequency</a:t>
            </a:r>
            <a:r>
              <a:rPr lang="en-US" sz="1700" dirty="0">
                <a:latin typeface="Century Gothic" panose="020B0502020202020204" pitchFamily="34" charset="0"/>
              </a:rPr>
              <a:t> – how often the customer makes purchases.</a:t>
            </a:r>
            <a:br>
              <a:rPr lang="en-US" sz="1700" dirty="0">
                <a:latin typeface="Century Gothic" panose="020B0502020202020204" pitchFamily="34" charset="0"/>
              </a:rPr>
            </a:br>
            <a:r>
              <a:rPr lang="en-US" sz="1700" b="1" dirty="0">
                <a:latin typeface="Century Gothic" panose="020B0502020202020204" pitchFamily="34" charset="0"/>
              </a:rPr>
              <a:t>Monetary</a:t>
            </a:r>
            <a:r>
              <a:rPr lang="en-US" sz="1700" dirty="0">
                <a:latin typeface="Century Gothic" panose="020B0502020202020204" pitchFamily="34" charset="0"/>
              </a:rPr>
              <a:t> – how much the customer spends.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6EE85-585C-E8A9-7CD2-AF0921570F8A}"/>
              </a:ext>
            </a:extLst>
          </p:cNvPr>
          <p:cNvSpPr txBox="1"/>
          <p:nvPr/>
        </p:nvSpPr>
        <p:spPr>
          <a:xfrm>
            <a:off x="296862" y="912124"/>
            <a:ext cx="5418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entury Gothic" panose="020B0502020202020204" pitchFamily="34" charset="0"/>
              </a:rPr>
              <a:t>RFM Analysis – Customer Segmentation</a:t>
            </a:r>
            <a:endParaRPr lang="ru-RU" sz="2000" b="1" dirty="0"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6EC31-ECA9-B6AC-986B-FA8897A7E57D}"/>
              </a:ext>
            </a:extLst>
          </p:cNvPr>
          <p:cNvSpPr txBox="1"/>
          <p:nvPr/>
        </p:nvSpPr>
        <p:spPr>
          <a:xfrm>
            <a:off x="373804" y="4396105"/>
            <a:ext cx="885320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/>
              <a:t>The chart shows the distribution of customers across RFM segments and highlights the segments with the highest concentration of valuable customers.</a:t>
            </a:r>
            <a:endParaRPr lang="ru-RU" sz="1700" dirty="0"/>
          </a:p>
        </p:txBody>
      </p:sp>
      <p:pic>
        <p:nvPicPr>
          <p:cNvPr id="8" name="Рисунок 7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54B466-0CCE-3198-0B0F-BB95D0B9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05" y="2523114"/>
            <a:ext cx="5708153" cy="1872991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66264BB-2E91-6023-9654-2F200BFF06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58"/>
          <a:stretch>
            <a:fillRect/>
          </a:stretch>
        </p:blipFill>
        <p:spPr>
          <a:xfrm>
            <a:off x="373804" y="1312234"/>
            <a:ext cx="5708153" cy="11020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e169449784_2_37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e169449784_2_37"/>
          <p:cNvSpPr/>
          <p:nvPr/>
        </p:nvSpPr>
        <p:spPr>
          <a:xfrm>
            <a:off x="205025" y="263974"/>
            <a:ext cx="8565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e169449784_2_37"/>
          <p:cNvSpPr/>
          <p:nvPr/>
        </p:nvSpPr>
        <p:spPr>
          <a:xfrm>
            <a:off x="-6201" y="-6350"/>
            <a:ext cx="9175500" cy="23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E0371F-EE46-C24E-A881-E1862BDC5AED}"/>
              </a:ext>
            </a:extLst>
          </p:cNvPr>
          <p:cNvSpPr txBox="1"/>
          <p:nvPr/>
        </p:nvSpPr>
        <p:spPr>
          <a:xfrm>
            <a:off x="438150" y="1044625"/>
            <a:ext cx="67094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entury Gothic" panose="020B0502020202020204" pitchFamily="34" charset="0"/>
              </a:rPr>
              <a:t>Data Integration – Merging RFM with Customer Profile</a:t>
            </a:r>
            <a:endParaRPr lang="ru-RU" sz="2000" b="1" dirty="0">
              <a:latin typeface="Century Gothic" panose="020B0502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357A1-9F7E-04D4-3B2E-10E073080783}"/>
              </a:ext>
            </a:extLst>
          </p:cNvPr>
          <p:cNvSpPr txBox="1"/>
          <p:nvPr/>
        </p:nvSpPr>
        <p:spPr>
          <a:xfrm>
            <a:off x="604944" y="2463823"/>
            <a:ext cx="84620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First, the RFM table was merged with the Customer Demographic dataset using </a:t>
            </a:r>
            <a:r>
              <a:rPr lang="en-US" i="1" dirty="0" err="1"/>
              <a:t>customer_id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allowed us to enrich RFM scores with customer attributes such as age, gender, job industry, wealth segment and purchasing behavior.</a:t>
            </a:r>
          </a:p>
          <a:p>
            <a:r>
              <a:rPr lang="en-US" dirty="0"/>
              <a:t>After merging the datasets, a small number of records (19 rows) were found to contain missing key attributes and were therefore excluded from further analysis.</a:t>
            </a:r>
            <a:br>
              <a:rPr lang="en-US" dirty="0"/>
            </a:br>
            <a:r>
              <a:rPr lang="en-US" dirty="0"/>
              <a:t>This step ensured data consistency and improved the clarity and reliability of visualizations.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0C2188-8EC2-E1F9-814F-901E8FFBC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94" y="1503323"/>
            <a:ext cx="8526640" cy="9019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169449784_2_47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e169449784_2_47"/>
          <p:cNvSpPr/>
          <p:nvPr/>
        </p:nvSpPr>
        <p:spPr>
          <a:xfrm>
            <a:off x="205025" y="263974"/>
            <a:ext cx="8565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e169449784_2_47"/>
          <p:cNvSpPr/>
          <p:nvPr/>
        </p:nvSpPr>
        <p:spPr>
          <a:xfrm>
            <a:off x="-6201" y="-6350"/>
            <a:ext cx="9175500" cy="23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42DCB0-2C72-CFA3-0C82-BF10A13AAC85}"/>
              </a:ext>
            </a:extLst>
          </p:cNvPr>
          <p:cNvSpPr txBox="1"/>
          <p:nvPr/>
        </p:nvSpPr>
        <p:spPr>
          <a:xfrm>
            <a:off x="407670" y="967764"/>
            <a:ext cx="6663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entury Gothic" panose="020B0502020202020204" pitchFamily="34" charset="0"/>
              </a:rPr>
              <a:t>Data Enrichment – Adding Geographic Information</a:t>
            </a:r>
            <a:endParaRPr lang="ru-RU" sz="2000" b="1" dirty="0"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71AD41-0340-9AED-B9AB-E1AF1DDA0D7D}"/>
              </a:ext>
            </a:extLst>
          </p:cNvPr>
          <p:cNvSpPr txBox="1"/>
          <p:nvPr/>
        </p:nvSpPr>
        <p:spPr>
          <a:xfrm>
            <a:off x="901599" y="2801476"/>
            <a:ext cx="76785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i="1" dirty="0" err="1"/>
              <a:t>CustomerAddress</a:t>
            </a:r>
            <a:r>
              <a:rPr lang="en-US" dirty="0"/>
              <a:t> table initially contained only street-level information, which was not sufficient for geographic segmentation.</a:t>
            </a:r>
          </a:p>
          <a:p>
            <a:r>
              <a:rPr lang="en-US" dirty="0"/>
              <a:t>Using postcode data, an external reference table with remoteness classifications was applied.</a:t>
            </a:r>
          </a:p>
          <a:p>
            <a:r>
              <a:rPr lang="en-US" dirty="0"/>
              <a:t>As a result, the </a:t>
            </a:r>
            <a:r>
              <a:rPr lang="en-US" i="1" dirty="0"/>
              <a:t>Remoteness name</a:t>
            </a:r>
            <a:r>
              <a:rPr lang="en-US" dirty="0"/>
              <a:t> and </a:t>
            </a:r>
            <a:r>
              <a:rPr lang="en-US" i="1" dirty="0"/>
              <a:t>Remoteness Index</a:t>
            </a:r>
            <a:r>
              <a:rPr lang="en-US" dirty="0"/>
              <a:t> were added to enrich the dataset with geographic context for further analysis.</a:t>
            </a:r>
          </a:p>
        </p:txBody>
      </p:sp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9B9DF2-E897-BFD9-B8AE-4C5A120624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90" b="1"/>
          <a:stretch>
            <a:fillRect/>
          </a:stretch>
        </p:blipFill>
        <p:spPr>
          <a:xfrm>
            <a:off x="407670" y="1416647"/>
            <a:ext cx="8503920" cy="12722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e169449784_2_58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e169449784_2_58"/>
          <p:cNvSpPr/>
          <p:nvPr/>
        </p:nvSpPr>
        <p:spPr>
          <a:xfrm>
            <a:off x="205025" y="263974"/>
            <a:ext cx="8565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e169449784_2_58"/>
          <p:cNvSpPr/>
          <p:nvPr/>
        </p:nvSpPr>
        <p:spPr>
          <a:xfrm>
            <a:off x="-6201" y="-6350"/>
            <a:ext cx="9175500" cy="23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8355F9-5562-FA31-7590-C711A9FB7E81}"/>
              </a:ext>
            </a:extLst>
          </p:cNvPr>
          <p:cNvSpPr txBox="1"/>
          <p:nvPr/>
        </p:nvSpPr>
        <p:spPr>
          <a:xfrm>
            <a:off x="438150" y="1097965"/>
            <a:ext cx="5505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entury Gothic" panose="020B0502020202020204" pitchFamily="34" charset="0"/>
              </a:rPr>
              <a:t>Final Dataset – Complete Customer Profile</a:t>
            </a:r>
            <a:endParaRPr lang="ru-RU" sz="2000" b="1" dirty="0"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DE4E89-0394-C47A-F059-5B4A346EBF2B}"/>
              </a:ext>
            </a:extLst>
          </p:cNvPr>
          <p:cNvSpPr txBox="1"/>
          <p:nvPr/>
        </p:nvSpPr>
        <p:spPr>
          <a:xfrm>
            <a:off x="595784" y="3556087"/>
            <a:ext cx="8677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final dataset integrates RFM metrics, customer demographics, and geographic information into a single customer profile.</a:t>
            </a:r>
          </a:p>
          <a:p>
            <a:r>
              <a:rPr lang="en-US" sz="2000" dirty="0"/>
              <a:t>This unified view enables accurate identification and segmentation of high-value customers.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6517D7-1717-1DE5-734D-20148A9C68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44"/>
          <a:stretch>
            <a:fillRect/>
          </a:stretch>
        </p:blipFill>
        <p:spPr>
          <a:xfrm>
            <a:off x="438150" y="1498075"/>
            <a:ext cx="8579169" cy="908619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линия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37D53E-107A-59F7-9D08-4FDB08F40D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736"/>
          <a:stretch>
            <a:fillRect/>
          </a:stretch>
        </p:blipFill>
        <p:spPr>
          <a:xfrm>
            <a:off x="466244" y="2505923"/>
            <a:ext cx="7744906" cy="8746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e169449784_2_68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e169449784_2_68"/>
          <p:cNvSpPr/>
          <p:nvPr/>
        </p:nvSpPr>
        <p:spPr>
          <a:xfrm>
            <a:off x="205025" y="263974"/>
            <a:ext cx="8565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e169449784_2_68"/>
          <p:cNvSpPr/>
          <p:nvPr/>
        </p:nvSpPr>
        <p:spPr>
          <a:xfrm>
            <a:off x="-6201" y="-6350"/>
            <a:ext cx="9175500" cy="23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lang="en-US" sz="5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F97E8-2C57-EED9-4430-6B534EF59772}"/>
              </a:ext>
            </a:extLst>
          </p:cNvPr>
          <p:cNvSpPr txBox="1"/>
          <p:nvPr/>
        </p:nvSpPr>
        <p:spPr>
          <a:xfrm>
            <a:off x="407726" y="1036808"/>
            <a:ext cx="395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entury Gothic" panose="020B0502020202020204" pitchFamily="34" charset="0"/>
              </a:rPr>
              <a:t>Who Are the Best Customers?</a:t>
            </a:r>
            <a:endParaRPr lang="ru-RU" sz="2000" b="1" dirty="0"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3A6B8-9A26-77F8-3828-92B144EA977F}"/>
              </a:ext>
            </a:extLst>
          </p:cNvPr>
          <p:cNvSpPr txBox="1"/>
          <p:nvPr/>
        </p:nvSpPr>
        <p:spPr>
          <a:xfrm>
            <a:off x="1402578" y="1538490"/>
            <a:ext cx="69089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best customers were identified using a weighted RFM model: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Monetary (50%)</a:t>
            </a:r>
            <a:r>
              <a:rPr lang="en-US" dirty="0"/>
              <a:t> – customers who generate the highest revenue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Frequency (30%)</a:t>
            </a:r>
            <a:r>
              <a:rPr lang="en-US" dirty="0"/>
              <a:t> – customers who purchase most often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Recency (20%)</a:t>
            </a:r>
            <a:r>
              <a:rPr lang="en-US" dirty="0"/>
              <a:t> – customers who made purchases most recently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28F31-D5E3-BDC8-DF7D-F89FD103B965}"/>
              </a:ext>
            </a:extLst>
          </p:cNvPr>
          <p:cNvSpPr txBox="1"/>
          <p:nvPr/>
        </p:nvSpPr>
        <p:spPr>
          <a:xfrm>
            <a:off x="733836" y="3764789"/>
            <a:ext cx="80367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further analysis, we selected customers with RFM scores between </a:t>
            </a:r>
            <a:r>
              <a:rPr lang="en-US" b="1" dirty="0"/>
              <a:t>70 and 90</a:t>
            </a:r>
            <a:r>
              <a:rPr lang="en-US" dirty="0"/>
              <a:t>, as they represent the most valuable and loyal customer segment.</a:t>
            </a:r>
            <a:endParaRPr lang="ru-RU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Development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16326F-7110-FB4F-A67B-36F746D25B13}"/>
              </a:ext>
            </a:extLst>
          </p:cNvPr>
          <p:cNvSpPr txBox="1"/>
          <p:nvPr/>
        </p:nvSpPr>
        <p:spPr>
          <a:xfrm>
            <a:off x="407727" y="1057280"/>
            <a:ext cx="45958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>
                <a:latin typeface="Century Gothic" panose="020B0502020202020204" pitchFamily="34" charset="0"/>
              </a:rPr>
              <a:t>Patterns</a:t>
            </a:r>
            <a:r>
              <a:rPr lang="ru-RU" sz="2000" b="1" dirty="0">
                <a:latin typeface="Century Gothic" panose="020B0502020202020204" pitchFamily="34" charset="0"/>
              </a:rPr>
              <a:t> </a:t>
            </a:r>
            <a:r>
              <a:rPr lang="ru-RU" sz="2000" b="1" dirty="0" err="1">
                <a:latin typeface="Century Gothic" panose="020B0502020202020204" pitchFamily="34" charset="0"/>
              </a:rPr>
              <a:t>of</a:t>
            </a:r>
            <a:r>
              <a:rPr lang="ru-RU" sz="2000" b="1" dirty="0">
                <a:latin typeface="Century Gothic" panose="020B0502020202020204" pitchFamily="34" charset="0"/>
              </a:rPr>
              <a:t> High-Value </a:t>
            </a:r>
            <a:r>
              <a:rPr lang="ru-RU" sz="2000" b="1" dirty="0" err="1">
                <a:latin typeface="Century Gothic" panose="020B0502020202020204" pitchFamily="34" charset="0"/>
              </a:rPr>
              <a:t>Customers</a:t>
            </a:r>
            <a:endParaRPr lang="ru-RU" sz="2000" b="1" dirty="0">
              <a:latin typeface="Century Gothic" panose="020B0502020202020204" pitchFamily="34" charset="0"/>
            </a:endParaRPr>
          </a:p>
        </p:txBody>
      </p:sp>
      <p:pic>
        <p:nvPicPr>
          <p:cNvPr id="4" name="Рисунок 3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DFB8E8-3737-D16E-9AEE-8E68116EB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004" y="1451709"/>
            <a:ext cx="3362795" cy="1711053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9E129C-3CED-29A1-4B25-CAB88D23B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004" y="3302366"/>
            <a:ext cx="3340617" cy="1711053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5C523B-B372-8183-0A94-EE7E042D4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3479" y="1451708"/>
            <a:ext cx="3362794" cy="1711053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1EE4D49-7F8F-7990-23EB-719123ECBB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3480" y="3302366"/>
            <a:ext cx="3397146" cy="17110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AF1ADFAA-B698-D477-3FD6-24EB4962D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E2BECBEB-BC73-6818-D465-BE8060E2873E}"/>
              </a:ext>
            </a:extLst>
          </p:cNvPr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>
            <a:extLst>
              <a:ext uri="{FF2B5EF4-FFF2-40B4-BE49-F238E27FC236}">
                <a16:creationId xmlns:a16="http://schemas.microsoft.com/office/drawing/2014/main" id="{CD621DDA-7B61-023F-C8C5-0A153B3E0235}"/>
              </a:ext>
            </a:extLst>
          </p:cNvPr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Development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>
            <a:extLst>
              <a:ext uri="{FF2B5EF4-FFF2-40B4-BE49-F238E27FC236}">
                <a16:creationId xmlns:a16="http://schemas.microsoft.com/office/drawing/2014/main" id="{6F2CC49E-EDB3-FEFF-CA8A-3DD80428E62E}"/>
              </a:ext>
            </a:extLst>
          </p:cNvPr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D39131-3068-BFD5-EF59-52F00D9BEEF0}"/>
              </a:ext>
            </a:extLst>
          </p:cNvPr>
          <p:cNvSpPr txBox="1"/>
          <p:nvPr/>
        </p:nvSpPr>
        <p:spPr>
          <a:xfrm>
            <a:off x="441845" y="1043632"/>
            <a:ext cx="8524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>
                <a:latin typeface="Century Gothic" panose="020B0502020202020204" pitchFamily="34" charset="0"/>
              </a:rPr>
              <a:t>Patterns</a:t>
            </a:r>
            <a:r>
              <a:rPr lang="ru-RU" sz="2000" b="1" dirty="0">
                <a:latin typeface="Century Gothic" panose="020B0502020202020204" pitchFamily="34" charset="0"/>
              </a:rPr>
              <a:t> </a:t>
            </a:r>
            <a:r>
              <a:rPr lang="ru-RU" sz="2000" b="1" dirty="0" err="1">
                <a:latin typeface="Century Gothic" panose="020B0502020202020204" pitchFamily="34" charset="0"/>
              </a:rPr>
              <a:t>of</a:t>
            </a:r>
            <a:r>
              <a:rPr lang="ru-RU" sz="2000" b="1" dirty="0">
                <a:latin typeface="Century Gothic" panose="020B0502020202020204" pitchFamily="34" charset="0"/>
              </a:rPr>
              <a:t> High-Value </a:t>
            </a:r>
            <a:r>
              <a:rPr lang="ru-RU" sz="2000" b="1" dirty="0" err="1">
                <a:latin typeface="Century Gothic" panose="020B0502020202020204" pitchFamily="34" charset="0"/>
              </a:rPr>
              <a:t>Customers</a:t>
            </a:r>
            <a:r>
              <a:rPr lang="en-US" sz="2000" b="1" dirty="0">
                <a:latin typeface="Century Gothic" panose="020B0502020202020204" pitchFamily="34" charset="0"/>
              </a:rPr>
              <a:t> (</a:t>
            </a:r>
            <a:r>
              <a:rPr lang="en-US" sz="2000" b="1" dirty="0">
                <a:solidFill>
                  <a:srgbClr val="1F1F1F"/>
                </a:solidFill>
                <a:latin typeface="Century Gothic" panose="020B0502020202020204" pitchFamily="34" charset="0"/>
              </a:rPr>
              <a:t>geography and wealth segment</a:t>
            </a:r>
            <a:r>
              <a:rPr lang="en-US" sz="2000" b="1" dirty="0">
                <a:latin typeface="Century Gothic" panose="020B0502020202020204" pitchFamily="34" charset="0"/>
              </a:rPr>
              <a:t>)</a:t>
            </a:r>
            <a:endParaRPr lang="ru-RU" sz="2000" b="1" dirty="0">
              <a:latin typeface="Century Gothic" panose="020B0502020202020204" pitchFamily="34" charset="0"/>
            </a:endParaRPr>
          </a:p>
        </p:txBody>
      </p:sp>
      <p:pic>
        <p:nvPicPr>
          <p:cNvPr id="13" name="Рисунок 12" descr="Изображение выглядит как текст, карта, диаграмм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9C85535-23E4-3CBD-D27F-D4B97ECD6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151" y="1443742"/>
            <a:ext cx="4290427" cy="3583146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F94D392-1378-DE37-938D-10809346E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87" y="3254789"/>
            <a:ext cx="3815638" cy="1772099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текст, снимок экрана, число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45A676-D773-3571-5A76-623E63A04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87" y="1443742"/>
            <a:ext cx="3795663" cy="165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8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6A02B1-3E4B-B4B6-73BC-9AEA7A442367}"/>
              </a:ext>
            </a:extLst>
          </p:cNvPr>
          <p:cNvSpPr txBox="1"/>
          <p:nvPr/>
        </p:nvSpPr>
        <p:spPr>
          <a:xfrm>
            <a:off x="373375" y="961235"/>
            <a:ext cx="38367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entury Gothic" panose="020B0502020202020204" pitchFamily="34" charset="0"/>
              </a:rPr>
              <a:t>Business Recommendations</a:t>
            </a:r>
            <a:endParaRPr lang="ru-RU" sz="2000" b="1" dirty="0">
              <a:latin typeface="Century Gothic" panose="020B0502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5086B0A-BAED-0103-C696-FFF5BE8BC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04" y="1299864"/>
            <a:ext cx="7903992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700" dirty="0">
                <a:latin typeface="Century Gothic" panose="020B0502020202020204" pitchFamily="34" charset="0"/>
              </a:rPr>
              <a:t>1. </a:t>
            </a:r>
            <a:r>
              <a:rPr lang="en-US" sz="1700" dirty="0">
                <a:latin typeface="Century Gothic" panose="020B0502020202020204" pitchFamily="34" charset="0"/>
              </a:rPr>
              <a:t>Focus marketing campaigns on customers living in </a:t>
            </a:r>
            <a:r>
              <a:rPr lang="en-US" sz="1700" b="1" dirty="0">
                <a:latin typeface="Century Gothic" panose="020B0502020202020204" pitchFamily="34" charset="0"/>
              </a:rPr>
              <a:t>Major Cities of Australia</a:t>
            </a:r>
            <a:r>
              <a:rPr lang="en-US" sz="1700" dirty="0">
                <a:latin typeface="Century Gothic" panose="020B0502020202020204" pitchFamily="34" charset="0"/>
              </a:rPr>
              <a:t>, with a special emphasis on </a:t>
            </a:r>
            <a:r>
              <a:rPr lang="en-US" sz="1700" b="1" dirty="0">
                <a:latin typeface="Century Gothic" panose="020B0502020202020204" pitchFamily="34" charset="0"/>
              </a:rPr>
              <a:t>NSW</a:t>
            </a:r>
            <a:r>
              <a:rPr lang="en-US" sz="1700" dirty="0">
                <a:latin typeface="Century Gothic" panose="020B0502020202020204" pitchFamily="34" charset="0"/>
              </a:rPr>
              <a:t>, as this region shows the highest concentration of high-value customers.</a:t>
            </a:r>
          </a:p>
          <a:p>
            <a:r>
              <a:rPr lang="ru-RU" sz="1700" dirty="0">
                <a:latin typeface="Century Gothic" panose="020B0502020202020204" pitchFamily="34" charset="0"/>
              </a:rPr>
              <a:t>2. </a:t>
            </a:r>
            <a:r>
              <a:rPr lang="en-US" sz="1700" dirty="0">
                <a:latin typeface="Century Gothic" panose="020B0502020202020204" pitchFamily="34" charset="0"/>
              </a:rPr>
              <a:t>Prioritize customers aged between </a:t>
            </a:r>
            <a:r>
              <a:rPr lang="en-US" sz="1700" b="1" dirty="0">
                <a:latin typeface="Century Gothic" panose="020B0502020202020204" pitchFamily="34" charset="0"/>
              </a:rPr>
              <a:t>40</a:t>
            </a:r>
            <a:r>
              <a:rPr lang="en-US" sz="1700" dirty="0">
                <a:latin typeface="Century Gothic" panose="020B0502020202020204" pitchFamily="34" charset="0"/>
              </a:rPr>
              <a:t> and </a:t>
            </a:r>
            <a:r>
              <a:rPr lang="en-US" sz="1700" b="1" dirty="0">
                <a:latin typeface="Century Gothic" panose="020B0502020202020204" pitchFamily="34" charset="0"/>
              </a:rPr>
              <a:t>49</a:t>
            </a:r>
            <a:r>
              <a:rPr lang="en-US" sz="1700" dirty="0">
                <a:latin typeface="Century Gothic" panose="020B0502020202020204" pitchFamily="34" charset="0"/>
              </a:rPr>
              <a:t>, since this age group generates the highest profit and demonstrates the most active purchasing behavior.</a:t>
            </a:r>
          </a:p>
          <a:p>
            <a:r>
              <a:rPr lang="ru-RU" sz="1700" dirty="0">
                <a:latin typeface="Century Gothic" panose="020B0502020202020204" pitchFamily="34" charset="0"/>
              </a:rPr>
              <a:t>3. </a:t>
            </a:r>
            <a:r>
              <a:rPr lang="en-US" sz="1700" dirty="0">
                <a:latin typeface="Century Gothic" panose="020B0502020202020204" pitchFamily="34" charset="0"/>
              </a:rPr>
              <a:t>Do not limit targeting only to High Net Worth customers.</a:t>
            </a:r>
            <a:br>
              <a:rPr lang="en-US" sz="1700" dirty="0">
                <a:latin typeface="Century Gothic" panose="020B0502020202020204" pitchFamily="34" charset="0"/>
              </a:rPr>
            </a:br>
            <a:r>
              <a:rPr lang="en-US" sz="1700" dirty="0">
                <a:latin typeface="Century Gothic" panose="020B0502020202020204" pitchFamily="34" charset="0"/>
              </a:rPr>
              <a:t>More than half of high-value customers belong to the </a:t>
            </a:r>
            <a:r>
              <a:rPr lang="en-US" sz="1700" b="1" dirty="0">
                <a:latin typeface="Century Gothic" panose="020B0502020202020204" pitchFamily="34" charset="0"/>
              </a:rPr>
              <a:t>Mass Customer </a:t>
            </a:r>
            <a:r>
              <a:rPr lang="en-US" sz="1700" dirty="0">
                <a:latin typeface="Century Gothic" panose="020B0502020202020204" pitchFamily="34" charset="0"/>
              </a:rPr>
              <a:t>segment, which shows that purchasing behavior is more important than declared wealth.</a:t>
            </a:r>
          </a:p>
          <a:p>
            <a:r>
              <a:rPr lang="ru-RU" sz="1700" dirty="0">
                <a:latin typeface="Century Gothic" panose="020B0502020202020204" pitchFamily="34" charset="0"/>
              </a:rPr>
              <a:t>4. </a:t>
            </a:r>
            <a:r>
              <a:rPr lang="en-US" sz="1700" dirty="0">
                <a:latin typeface="Century Gothic" panose="020B0502020202020204" pitchFamily="34" charset="0"/>
              </a:rPr>
              <a:t>Do not use </a:t>
            </a:r>
            <a:r>
              <a:rPr lang="en-US" sz="1700" b="1" dirty="0">
                <a:latin typeface="Century Gothic" panose="020B0502020202020204" pitchFamily="34" charset="0"/>
              </a:rPr>
              <a:t>car</a:t>
            </a:r>
            <a:r>
              <a:rPr lang="en-US" sz="1700" dirty="0">
                <a:latin typeface="Century Gothic" panose="020B0502020202020204" pitchFamily="34" charset="0"/>
              </a:rPr>
              <a:t> ownership as a primary targeting criterion.</a:t>
            </a:r>
            <a:br>
              <a:rPr lang="en-US" sz="1700" dirty="0">
                <a:latin typeface="Century Gothic" panose="020B0502020202020204" pitchFamily="34" charset="0"/>
              </a:rPr>
            </a:br>
            <a:r>
              <a:rPr lang="en-US" sz="1700" dirty="0">
                <a:latin typeface="Century Gothic" panose="020B0502020202020204" pitchFamily="34" charset="0"/>
              </a:rPr>
              <a:t>The distribution between customers who own a car and those who do not is almost balanced, which means this feature does not significantly differentiate high-value customers.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9FBE688-F836-0103-5B37-5AF68D931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>
            <a:extLst>
              <a:ext uri="{FF2B5EF4-FFF2-40B4-BE49-F238E27FC236}">
                <a16:creationId xmlns:a16="http://schemas.microsoft.com/office/drawing/2014/main" id="{9967A0D7-2DDE-D0B9-68F6-6CAE8C263AA7}"/>
              </a:ext>
            </a:extLst>
          </p:cNvPr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C4719030-7348-2882-B887-E14A77863951}"/>
              </a:ext>
            </a:extLst>
          </p:cNvPr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>
            <a:extLst>
              <a:ext uri="{FF2B5EF4-FFF2-40B4-BE49-F238E27FC236}">
                <a16:creationId xmlns:a16="http://schemas.microsoft.com/office/drawing/2014/main" id="{27F72FB7-A564-5D68-4E3A-8CECDDD651D3}"/>
              </a:ext>
            </a:extLst>
          </p:cNvPr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9D7F5-76FB-AE11-223D-B309E2DD725A}"/>
              </a:ext>
            </a:extLst>
          </p:cNvPr>
          <p:cNvSpPr txBox="1"/>
          <p:nvPr/>
        </p:nvSpPr>
        <p:spPr>
          <a:xfrm>
            <a:off x="373375" y="1022716"/>
            <a:ext cx="38367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entury Gothic" panose="020B0502020202020204" pitchFamily="34" charset="0"/>
              </a:rPr>
              <a:t>Business Recommendations</a:t>
            </a:r>
            <a:endParaRPr lang="ru-RU" sz="2000" b="1" dirty="0">
              <a:latin typeface="Century Gothic" panose="020B0502020202020204" pitchFamily="34" charset="0"/>
            </a:endParaRPr>
          </a:p>
        </p:txBody>
      </p:sp>
      <p:pic>
        <p:nvPicPr>
          <p:cNvPr id="4" name="Рисунок 3" descr="Изображение выглядит как текст, число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28519F9-52D1-4B12-4706-B7101E410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75" y="1422826"/>
            <a:ext cx="8565600" cy="16394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BBE570-1961-F087-DADE-2B5E99138911}"/>
              </a:ext>
            </a:extLst>
          </p:cNvPr>
          <p:cNvSpPr txBox="1"/>
          <p:nvPr/>
        </p:nvSpPr>
        <p:spPr>
          <a:xfrm>
            <a:off x="1446475" y="3302407"/>
            <a:ext cx="570108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Based on the identified high-value customer profile, the new dataset was segmented.</a:t>
            </a:r>
            <a:br>
              <a:rPr lang="en-US" sz="2000" dirty="0"/>
            </a:br>
            <a:r>
              <a:rPr lang="en-US" sz="2000" dirty="0"/>
              <a:t>As a result, 79 customers with the highest potential were identified and selected for targeted marketing activities.</a:t>
            </a:r>
            <a:endParaRPr lang="ru-RU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60488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 rot="10800000" flipH="1">
            <a:off x="-1" y="0"/>
            <a:ext cx="9163201" cy="514800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16564" y="0"/>
                </a:lnTo>
                <a:lnTo>
                  <a:pt x="21600" y="896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37899" y="1895175"/>
            <a:ext cx="3953102" cy="77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pen Sans ExtraBold"/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Appendix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lang="en-US" sz="5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254E9E-04EE-FE2D-930F-519C4A88A94C}"/>
              </a:ext>
            </a:extLst>
          </p:cNvPr>
          <p:cNvSpPr txBox="1"/>
          <p:nvPr/>
        </p:nvSpPr>
        <p:spPr>
          <a:xfrm>
            <a:off x="690463" y="1508415"/>
            <a:ext cx="81954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supporting tables, calculations, and intermediate datasets used in this project are available in the Google Sheets linked below:</a:t>
            </a:r>
            <a:endParaRPr lang="ru-RU" dirty="0"/>
          </a:p>
          <a:p>
            <a:endParaRPr lang="ru-RU" dirty="0"/>
          </a:p>
          <a:p>
            <a:r>
              <a:rPr lang="en-US" dirty="0">
                <a:hlinkClick r:id="rId3"/>
              </a:rPr>
              <a:t>https://docs.google.com/spreadsheets/d/1PZTOM00NtGq-AyDYjsAjwbjtWPX7fswK/edit?usp=sharing&amp;ouid=103404109642255735462&amp;rtpof=true&amp;sd=true</a:t>
            </a:r>
            <a:endParaRPr lang="ru-RU" dirty="0"/>
          </a:p>
          <a:p>
            <a:endParaRPr lang="ru-RU" dirty="0"/>
          </a:p>
          <a:p>
            <a:r>
              <a:rPr lang="en-US" dirty="0">
                <a:hlinkClick r:id="rId4"/>
              </a:rPr>
              <a:t>https://docs.google.com/spreadsheets/d/1x6boy0oT-MEvG4w6c9kDmPwWNjz69xnf/edit?usp=sharing&amp;ouid=103404109642255735462&amp;rtpof=true&amp;sd=true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2602</TotalTime>
  <Words>849</Words>
  <Application>Microsoft Office PowerPoint</Application>
  <PresentationFormat>Экран (16:9)</PresentationFormat>
  <Paragraphs>69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Calibri</vt:lpstr>
      <vt:lpstr>Wingdings 3</vt:lpstr>
      <vt:lpstr>Century Gothic</vt:lpstr>
      <vt:lpstr>Arial</vt:lpstr>
      <vt:lpstr>Open Sans</vt:lpstr>
      <vt:lpstr>Open Sans ExtraBold</vt:lpstr>
      <vt:lpstr>Open Sans Light</vt:lpstr>
      <vt:lpstr>Легкий дым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Student</cp:lastModifiedBy>
  <cp:revision>13</cp:revision>
  <dcterms:modified xsi:type="dcterms:W3CDTF">2026-01-27T19:28:40Z</dcterms:modified>
</cp:coreProperties>
</file>